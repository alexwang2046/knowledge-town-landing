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ove_fit_8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15F4C"/>
                </a:solidFill>
                <a:latin typeface="Noto Sans CJK SC"/>
              </a:rPr>
              <a:t>WaytoAGI 1024 · OPC赛道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114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214C3C"/>
                </a:solidFill>
                <a:latin typeface="Noto Sans CJK SC"/>
              </a:rPr>
              <a:t>拾知小镇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315F4C"/>
                </a:solidFill>
                <a:latin typeface="Noto Sans CJK SC"/>
              </a:rPr>
              <a:t>Knowledge 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58368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214C3C"/>
                </a:solidFill>
                <a:latin typeface="Noto Sans CJK SC"/>
              </a:rPr>
              <a:t>上传你的知识，生成一个</a:t>
            </a:r>
            <a:br/>
            <a:r>
              <a:t>可以学习的世界。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5943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F786F"/>
                </a:solidFill>
                <a:latin typeface="Noto Sans CJK SC"/>
              </a:rPr>
              <a:t>AI 将教材、讲义和知识资料，转化为可探索、可互动、可练习的游戏化学习体验。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828800" cy="438912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96712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Noto Sans CJK SC"/>
              </a:rPr>
              <a:t>ONE PERSON +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有知识，不等于有好的学习体验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问题不是缺知识，而是知识很难被转化成好的学习体验。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395728" cy="24231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8" y="2313432"/>
            <a:ext cx="64008" cy="209397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13432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教材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15768"/>
            <a:ext cx="1956816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内容丰富，却难互动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148840"/>
            <a:ext cx="2395728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48456" y="2313432"/>
            <a:ext cx="64008" cy="209397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313432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PPT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15768"/>
            <a:ext cx="1956816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信息完整，却难练习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148840"/>
            <a:ext cx="2395728" cy="24231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1384" y="2313432"/>
            <a:ext cx="64008" cy="209397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313432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讲义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715768"/>
            <a:ext cx="1956816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适合阅读，难形成反馈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2148840"/>
            <a:ext cx="2395728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54311" y="2313432"/>
            <a:ext cx="64008" cy="2093976"/>
          </a:xfrm>
          <a:prstGeom prst="roundRect">
            <a:avLst/>
          </a:prstGeom>
          <a:solidFill>
            <a:srgbClr val="6D8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5" y="2313432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5" y="2715768"/>
            <a:ext cx="1956816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知识分散，难形成学习闭环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3840480" cy="438912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4243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DF8"/>
                </a:solidFill>
                <a:latin typeface="Noto Sans CJK SC"/>
              </a:rPr>
              <a:t>静态资料 ≠ 互动学习产品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拾知小镇是什么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内容属于用户，平台负责把知识变成体验。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246120" cy="182880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30552"/>
            <a:ext cx="64008" cy="149961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283463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用户自己的知识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32888"/>
            <a:ext cx="280720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教材 · 讲义 · 文章 · 培训资料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24612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2130552"/>
            <a:ext cx="64008" cy="149961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30552"/>
            <a:ext cx="283463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AI 加工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532888"/>
            <a:ext cx="280720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理解知识 · 设计学习 · 生成互动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246120" cy="182880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2130552"/>
            <a:ext cx="64008" cy="149961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130552"/>
            <a:ext cx="283463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游戏化学习世界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532888"/>
            <a:ext cx="280720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探索 · 练习 · 反馈 · 复习</a:t>
            </a:r>
          </a:p>
        </p:txBody>
      </p:sp>
      <p:pic>
        <p:nvPicPr>
          <p:cNvPr id="18" name="Picture 17" descr="academy_fit_77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977639"/>
            <a:ext cx="438912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4572000"/>
            <a:ext cx="57607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14C3C"/>
                </a:solidFill>
                <a:latin typeface="Noto Sans CJK SC"/>
              </a:rPr>
              <a:t>用户资料  →  AI理解与编排  →  互动学习世界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别人生成“内容”，我们生成“体验”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不是摘要 / PPT / 题库生成器。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1901952" cy="205740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404872"/>
            <a:ext cx="64008" cy="172821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1490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46304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进入学习世界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240280"/>
            <a:ext cx="1901952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54096" y="2404872"/>
            <a:ext cx="64008" cy="172821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404872"/>
            <a:ext cx="1490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07208"/>
            <a:ext cx="146304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知识进入环境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240280"/>
            <a:ext cx="1901952" cy="205740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2404872"/>
            <a:ext cx="64008" cy="172821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404872"/>
            <a:ext cx="1490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07208"/>
            <a:ext cx="146304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带着目标学习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2240280"/>
            <a:ext cx="1901952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6096" y="2404872"/>
            <a:ext cx="64008" cy="1728216"/>
          </a:xfrm>
          <a:prstGeom prst="roundRect">
            <a:avLst/>
          </a:prstGeom>
          <a:solidFill>
            <a:srgbClr val="6D8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04872"/>
            <a:ext cx="1490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807208"/>
            <a:ext cx="146304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真正操作知识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2368" y="2240280"/>
            <a:ext cx="1901952" cy="205740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12096" y="2404872"/>
            <a:ext cx="64008" cy="1728216"/>
          </a:xfrm>
          <a:prstGeom prst="roundRect">
            <a:avLst/>
          </a:prstGeom>
          <a:solidFill>
            <a:srgbClr val="315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404872"/>
            <a:ext cx="1490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07208"/>
            <a:ext cx="146304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练习 · 错题 · 复习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66360"/>
            <a:ext cx="9784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14C3C"/>
                </a:solidFill>
                <a:latin typeface="Noto Sans CJK SC"/>
              </a:rPr>
              <a:t>知识不只是被“看见”，而是被“使用”。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一份资料，怎么进入拾知小镇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生成结果先预览、核对，再进入课程。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664208" cy="132588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176272"/>
            <a:ext cx="64008" cy="996695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上传 / 粘贴资料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2011680"/>
            <a:ext cx="1664208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40" y="2176272"/>
            <a:ext cx="64008" cy="996695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建立知识库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011680"/>
            <a:ext cx="1664208" cy="132588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2176272"/>
            <a:ext cx="64008" cy="996695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AI 生成初稿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011680"/>
            <a:ext cx="1664208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9944" y="2176272"/>
            <a:ext cx="64008" cy="996695"/>
          </a:xfrm>
          <a:prstGeom prst="roundRect">
            <a:avLst/>
          </a:prstGeom>
          <a:solidFill>
            <a:srgbClr val="6D8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用户预览与调整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2011680"/>
            <a:ext cx="1664208" cy="132588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1896" y="2176272"/>
            <a:ext cx="64008" cy="996695"/>
          </a:xfrm>
          <a:prstGeom prst="roundRect">
            <a:avLst/>
          </a:prstGeom>
          <a:solidFill>
            <a:srgbClr val="315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选择互动方式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011680"/>
            <a:ext cx="1664208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13848" y="2176272"/>
            <a:ext cx="64008" cy="996695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2176272"/>
            <a:ext cx="1252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2578608"/>
            <a:ext cx="122529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进入游戏化课程</a:t>
            </a:r>
          </a:p>
        </p:txBody>
      </p:sp>
      <p:pic>
        <p:nvPicPr>
          <p:cNvPr id="30" name="Picture 29" descr="archive_fit_9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6200"/>
            <a:ext cx="4297680" cy="192024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440680" y="3886200"/>
            <a:ext cx="55778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50408" y="4050791"/>
            <a:ext cx="64008" cy="159105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6712" y="4050791"/>
            <a:ext cx="516635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真实工作流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96712" y="4453128"/>
            <a:ext cx="5138927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上传资料 → AI 整理 → 生成课程 → 学习回流</a:t>
            </a:r>
            <a:br/>
            <a:br/>
            <a:r>
              <a:t>AI 做重复工作，人保留内容与教学判断。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《AI 商业入门》已经做成一个学习世界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不是概念演示，而是一套可以直接体验的完整样例。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pic>
        <p:nvPicPr>
          <p:cNvPr id="6" name="Picture 5" descr="grove_fit_75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83080"/>
            <a:ext cx="5394960" cy="283464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947672"/>
            <a:ext cx="64008" cy="250545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47672"/>
            <a:ext cx="4983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真实样例｜AI 商业入门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4956048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用户输入自己的资料后，系统把知识组织成章节、互动与练习。</a:t>
            </a:r>
            <a:br/>
            <a:br/>
            <a:r>
              <a:t>它是拾知小镇平台能力的第一个完整样例。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937760"/>
            <a:ext cx="123444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10912"/>
            <a:ext cx="1234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955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章地图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937760"/>
            <a:ext cx="123444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5010912"/>
            <a:ext cx="1234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139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55955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知识单元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937760"/>
            <a:ext cx="123444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5010912"/>
            <a:ext cx="1234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55955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小游戏单元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937760"/>
            <a:ext cx="123444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010912"/>
            <a:ext cx="1234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559552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互动类型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LEARNING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游戏不是套皮，底层是一套学习闭环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让知识经历理解、操作、应用和反馈。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33172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9631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基础 + 示范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74519"/>
            <a:ext cx="2331720" cy="10515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947672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49631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互动练习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233172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947672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49631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独立应用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74519"/>
            <a:ext cx="2331720" cy="10515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947672"/>
            <a:ext cx="2331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49631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错题 + 复习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069080"/>
            <a:ext cx="1389888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基础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57984" y="4069080"/>
            <a:ext cx="1389888" cy="43891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示范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85615" y="4069080"/>
            <a:ext cx="1389888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引导练习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13248" y="4069080"/>
            <a:ext cx="1389888" cy="43891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独立应用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069080"/>
            <a:ext cx="1389888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正式练习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4069080"/>
            <a:ext cx="1389888" cy="43891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错题修复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96144" y="4069080"/>
            <a:ext cx="1389888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96144" y="4096512"/>
            <a:ext cx="13898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章末测验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074920"/>
            <a:ext cx="10332720" cy="914400"/>
          </a:xfrm>
          <a:prstGeom prst="roundRect">
            <a:avLst/>
          </a:prstGeom>
          <a:solidFill>
            <a:srgbClr val="214C3C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239512"/>
            <a:ext cx="9921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完整学习闭环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641848"/>
            <a:ext cx="9893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基础学习 → 示范 → 引导练习 → 独立应用 → 正式练习 → 错题修复 → 复习 / 测验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2120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DF8"/>
                </a:solidFill>
                <a:latin typeface="Noto Sans CJK SC"/>
              </a:rPr>
              <a:t>完整学习闭环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532120"/>
            <a:ext cx="9509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DF8"/>
                </a:solidFill>
                <a:latin typeface="Noto Sans CJK SC"/>
              </a:rPr>
              <a:t>基础学习 → 示范 → 引导练习 → 独立应用 → 正式练习 → 错题修复 → 复习 / 测验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SELLING POINT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卖点一｜内容属于用户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平台不规定你学什么。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377440" cy="237744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176272"/>
            <a:ext cx="64008" cy="204825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176272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独立老师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78608"/>
            <a:ext cx="1938528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教材 / 讲义 / 自编课程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377440" cy="237744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7" y="2176272"/>
            <a:ext cx="64008" cy="204825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176272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知识创作者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2578608"/>
            <a:ext cx="1938528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文章 / 专栏 / 系列知识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011680"/>
            <a:ext cx="2377440" cy="237744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64807" y="2176272"/>
            <a:ext cx="64008" cy="204825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176272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培训师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578608"/>
            <a:ext cx="1938528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培训材料 / 内部课程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2011680"/>
            <a:ext cx="2377440" cy="237744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53727" y="2176272"/>
            <a:ext cx="64008" cy="2048256"/>
          </a:xfrm>
          <a:prstGeom prst="roundRect">
            <a:avLst/>
          </a:prstGeom>
          <a:solidFill>
            <a:srgbClr val="6D8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1" y="2176272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企业培训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1" y="2578608"/>
            <a:ext cx="1938528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SOP / 产品知识 / 员工培训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14C3C"/>
                </a:solidFill>
                <a:latin typeface="Noto Sans CJK SC"/>
              </a:rPr>
              <a:t>不同人的知识，进入同一套学习生产系统。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SELLING POINT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卖点二｜不同知识，用不同方式学习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知识是什么，决定它应该怎么被学习。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35661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993392"/>
            <a:ext cx="64008" cy="323697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知识类型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2852928" cy="2880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概念</a:t>
            </a:r>
            <a:br/>
            <a:r>
              <a:t>规则</a:t>
            </a:r>
            <a:br/>
            <a:r>
              <a:t>流程</a:t>
            </a:r>
            <a:br/>
            <a:r>
              <a:t>数据</a:t>
            </a:r>
            <a:br/>
            <a:r>
              <a:t>判断</a:t>
            </a:r>
            <a:br/>
            <a:r>
              <a:t>参数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35661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1993392"/>
            <a:ext cx="64008" cy="323697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9339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适合的学习方式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95728"/>
            <a:ext cx="2852928" cy="2880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分类 / 匹配</a:t>
            </a:r>
            <a:br/>
            <a:r>
              <a:t>排序 / 拖拽</a:t>
            </a:r>
            <a:br/>
            <a:r>
              <a:t>情境判断</a:t>
            </a:r>
            <a:br/>
            <a:r>
              <a:t>参数操作</a:t>
            </a:r>
            <a:br/>
            <a:r>
              <a:t>规则实验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35661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1993392"/>
            <a:ext cx="64008" cy="323697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9339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用户可以选择 / 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395728"/>
            <a:ext cx="2852928" cy="2880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AI 可以推荐</a:t>
            </a:r>
            <a:br/>
            <a:r>
              <a:t>用户可以修改</a:t>
            </a:r>
            <a:br/>
            <a:r>
              <a:t>多种互动可组合</a:t>
            </a:r>
            <a:br/>
            <a:r>
              <a:t>最终由人决定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SELLING POINT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卖点三｜AI 做重活，人保留决定权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不是“一键生成以后就不能改”。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00600" cy="406908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93392"/>
            <a:ext cx="64008" cy="373989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93392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AI 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4361688" cy="3383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理解资料</a:t>
            </a:r>
            <a:br/>
            <a:r>
              <a:t>整理知识</a:t>
            </a:r>
            <a:br/>
            <a:r>
              <a:t>生成初稿</a:t>
            </a:r>
            <a:br/>
            <a:r>
              <a:t>推荐学习方式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800600" cy="406908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47688" y="1993392"/>
            <a:ext cx="64008" cy="373989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993392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用户负责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395728"/>
            <a:ext cx="4361688" cy="3383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判断内容</a:t>
            </a:r>
            <a:br/>
            <a:r>
              <a:t>选择互动</a:t>
            </a:r>
            <a:br/>
            <a:r>
              <a:t>修改结构</a:t>
            </a:r>
            <a:br/>
            <a:r>
              <a:t>审核结果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989320"/>
            <a:ext cx="6492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14C3C"/>
                </a:solidFill>
                <a:latin typeface="Noto Sans CJK SC"/>
              </a:rPr>
              <a:t>AI 提高生产效率，人保留教学判断。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SELLING POINT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卖点四｜同一套知识，可以进入不同学习世界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选现成模板 · 自己制作 · 上传保存 · 反复复用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pic>
        <p:nvPicPr>
          <p:cNvPr id="6" name="Picture 5" descr="grove_fit_8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4688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4983480"/>
            <a:ext cx="2194560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10912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森林模板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11</a:t>
            </a:r>
          </a:p>
        </p:txBody>
      </p:sp>
      <p:pic>
        <p:nvPicPr>
          <p:cNvPr id="10" name="Picture 9" descr="seaside_fit_39_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246888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03320" y="4983480"/>
            <a:ext cx="2194560" cy="43891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010912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海边模板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11</a:t>
            </a:r>
          </a:p>
        </p:txBody>
      </p:sp>
      <p:pic>
        <p:nvPicPr>
          <p:cNvPr id="14" name="Picture 13" descr="winter_fit_70_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2468880" cy="2926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37960" y="4983480"/>
            <a:ext cx="2194560" cy="438912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5010912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冬日模板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11</a:t>
            </a:r>
          </a:p>
        </p:txBody>
      </p:sp>
      <p:pic>
        <p:nvPicPr>
          <p:cNvPr id="18" name="Picture 17" descr="workshop_fit_101_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828800"/>
            <a:ext cx="2468880" cy="29260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372600" y="4983480"/>
            <a:ext cx="2194560" cy="43891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5010912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14C3C"/>
                </a:solidFill>
                <a:latin typeface="Noto Sans CJK SC"/>
              </a:rPr>
              <a:t>自制模板示例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WHO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第一批用户：已经有知识，但缺产品能力的人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他们缺的不是内容，而是一套把内容变成学习产品的能力。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15087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039112"/>
            <a:ext cx="64008" cy="117957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3911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独立老师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41448"/>
            <a:ext cx="4636008" cy="8229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有课程，没有开发团队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74519"/>
            <a:ext cx="507492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6248" y="2039112"/>
            <a:ext cx="64008" cy="1179576"/>
          </a:xfrm>
          <a:prstGeom prst="roundRect">
            <a:avLst/>
          </a:prstGeom>
          <a:solidFill>
            <a:srgbClr val="D7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03911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知识创作者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441448"/>
            <a:ext cx="4636008" cy="8229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有内容，希望产品化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507492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3913631"/>
            <a:ext cx="64008" cy="117957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913631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培训师 / 小型机构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315968"/>
            <a:ext cx="4636008" cy="8229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有资料，需要更好的学习体验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749039"/>
            <a:ext cx="5074920" cy="15087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3913631"/>
            <a:ext cx="64008" cy="1179576"/>
          </a:xfrm>
          <a:prstGeom prst="roundRect">
            <a:avLst/>
          </a:prstGeom>
          <a:solidFill>
            <a:srgbClr val="6D8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3913631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企业培训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4315968"/>
            <a:ext cx="4636008" cy="8229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SOP / 产品知识 / 员工学习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OPC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为什么一个人，也能完成更多环节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一个人不是完成所有工作，而是拥有过去一支小团队才具备的生产能力。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92040" cy="3337560"/>
          </a:xfrm>
          <a:prstGeom prst="roundRect">
            <a:avLst/>
          </a:prstGeom>
          <a:solidFill>
            <a:srgbClr val="FFFDF8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1993392"/>
            <a:ext cx="64008" cy="3008376"/>
          </a:xfrm>
          <a:prstGeom prst="roundRect">
            <a:avLst/>
          </a:prstGeom>
          <a:solidFill>
            <a:srgbClr val="DD8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93392"/>
            <a:ext cx="448055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过去｜多人协作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95728"/>
            <a:ext cx="4453127" cy="2651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内容整理</a:t>
            </a:r>
            <a:br/>
            <a:r>
              <a:t>教研</a:t>
            </a:r>
            <a:br/>
            <a:r>
              <a:t>交互设计</a:t>
            </a:r>
            <a:br/>
            <a:r>
              <a:t>视觉设计</a:t>
            </a:r>
            <a:br/>
            <a:r>
              <a:t>开发</a:t>
            </a:r>
            <a:br/>
            <a:r>
              <a:t>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892040" cy="333756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47688" y="1993392"/>
            <a:ext cx="64008" cy="300837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993392"/>
            <a:ext cx="448055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现在｜人 + AI + 拾知小镇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395728"/>
            <a:ext cx="4453127" cy="2651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人负责：需求判断 / 产品方向 / 教学判断 / 最终审核</a:t>
            </a:r>
            <a:br/>
            <a:br/>
            <a:r>
              <a:t>AI + 系统负责：整理 / 生成 / 编排 / 互动 / 重复生产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623560"/>
            <a:ext cx="5394960" cy="438912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5650992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DF8"/>
                </a:solidFill>
                <a:latin typeface="Noto Sans CJK SC"/>
              </a:rPr>
              <a:t>ONE PERSON = SMALL TEAM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15F4C"/>
                </a:solidFill>
                <a:latin typeface="Noto Sans CJK SC"/>
              </a:rPr>
              <a:t>COMMERCIAL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14C3C"/>
                </a:solidFill>
                <a:latin typeface="Noto Sans CJK SC"/>
              </a:rPr>
              <a:t>已验证案例｜IB Practice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058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F786F"/>
                </a:solidFill>
                <a:latin typeface="Noto Sans CJK SC"/>
              </a:rPr>
              <a:t>团队成员已跑通垂直学习网站：从小红书内容获客，到网站学习与付费。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27432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315F4C"/>
                </a:solidFill>
                <a:latin typeface="Noto Sans CJK SC"/>
              </a:rPr>
              <a:t>拾知小镇 · KNOWLEDGE TOWN</a:t>
            </a:r>
          </a:p>
        </p:txBody>
      </p:sp>
      <p:pic>
        <p:nvPicPr>
          <p:cNvPr id="6" name="Picture 5" descr="ib_site_fit_8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971800" cy="3246120"/>
          </a:xfrm>
          <a:prstGeom prst="rect">
            <a:avLst/>
          </a:prstGeom>
        </p:spPr>
      </p:pic>
      <p:pic>
        <p:nvPicPr>
          <p:cNvPr id="7" name="Picture 6" descr="ib_xhs_fit_43_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0"/>
            <a:ext cx="297180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965960"/>
            <a:ext cx="1828800" cy="1051560"/>
          </a:xfrm>
          <a:prstGeom prst="roundRect">
            <a:avLst/>
          </a:prstGeom>
          <a:solidFill>
            <a:srgbClr val="E9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039112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3 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87752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上线验证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965960"/>
            <a:ext cx="1828800" cy="10515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2039112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>
                <a:solidFill>
                  <a:srgbClr val="214C3C"/>
                </a:solidFill>
                <a:latin typeface="Noto Sans CJK SC"/>
              </a:rPr>
              <a:t>1 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587752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F786F"/>
                </a:solidFill>
                <a:latin typeface="Noto Sans CJK SC"/>
              </a:rPr>
              <a:t>营业额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429000"/>
            <a:ext cx="3931920" cy="1417320"/>
          </a:xfrm>
          <a:prstGeom prst="roundRect">
            <a:avLst/>
          </a:prstGeom>
          <a:solidFill>
            <a:srgbClr val="E9EFE2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4927" y="3593592"/>
            <a:ext cx="64008" cy="1088136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3593592"/>
            <a:ext cx="352043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IB Practice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3995928"/>
            <a:ext cx="3493008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IB 全科历年真题题库</a:t>
            </a:r>
            <a:br/>
            <a:r>
              <a:t>在线答题 · 自动判分 · 进度追踪 · 模考训练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983480"/>
            <a:ext cx="3931920" cy="868680"/>
          </a:xfrm>
          <a:prstGeom prst="roundRect">
            <a:avLst/>
          </a:prstGeom>
          <a:solidFill>
            <a:srgbClr val="214C3C"/>
          </a:solidFill>
          <a:ln>
            <a:solidFill>
              <a:srgbClr val="D9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5148072"/>
            <a:ext cx="352043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14C3C"/>
                </a:solidFill>
                <a:latin typeface="Noto Sans CJK SC"/>
              </a:rPr>
              <a:t>真实获客路径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5550408"/>
            <a:ext cx="3493008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F786F"/>
                </a:solidFill>
                <a:latin typeface="Noto Sans CJK SC"/>
              </a:rPr>
              <a:t>小红书内容获客 → 网站承接 → 用户付费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14C3C"/>
                </a:solidFill>
                <a:latin typeface="Noto Sans CJK SC"/>
              </a:rPr>
              <a:t>小红书主打：告别翻 PDF，直接组卷练习。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6126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F786F"/>
                </a:solidFill>
                <a:latin typeface="Noto Sans CJK SC"/>
              </a:rPr>
              <a:t>团队成员既有项目，并非拾知小镇营收。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ove_fit_8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0"/>
            <a:ext cx="414223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97280"/>
            <a:ext cx="640080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300" b="1">
                <a:solidFill>
                  <a:srgbClr val="214C3C"/>
                </a:solidFill>
                <a:latin typeface="Noto Sans CJK SC"/>
              </a:rPr>
              <a:t>上传你的知识，</a:t>
            </a:r>
            <a:br/>
            <a:r>
              <a:t>生成一个可以学习的世界。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5943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F786F"/>
                </a:solidFill>
                <a:latin typeface="Noto Sans CJK SC"/>
              </a:rPr>
              <a:t>我们不是把教材做成小游戏，而是让更多人拥有把自己的知识做成学习产品的能力。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2926080" cy="438912"/>
          </a:xfrm>
          <a:prstGeom prst="roundRect">
            <a:avLst/>
          </a:prstGeom>
          <a:solidFill>
            <a:srgbClr val="21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56632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DF8"/>
                </a:solidFill>
                <a:latin typeface="Noto Sans CJK SC"/>
              </a:rPr>
              <a:t>拾知小镇 · Knowledge 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15F4C"/>
                </a:solidFill>
                <a:latin typeface="Noto Sans CJK SC"/>
              </a:rPr>
              <a:t>WaytoAGI 1024 · OPC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315F4C"/>
                </a:solidFill>
                <a:latin typeface="Noto Sans CJK S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